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Fira Code"/>
      <ns0:bold ns1:id="rIdFont14"/>
      <ns0:regular ns1:id="rIdFont15"/>
    </ns0:embeddedFont>
    <ns0:embeddedFont>
      <ns0:font typeface="Space Grotesk"/>
      <ns0:bold ns1:id="rIdFont16"/>
    </ns0:embeddedFont>
    <ns0:embeddedFont>
      <ns0:font typeface="Plus Jakarta Sans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70749fe1-e91c-46dd-9607-2caa591a3389.fntdata" /><ns0:Relationship Id="rIdFont15" Type="http://schemas.openxmlformats.org/officeDocument/2006/relationships/font" Target="fonts/70024c22-fbaf-49b6-b6b0-8edc9aac5a51.fntdata" /><ns0:Relationship Id="rIdFont16" Type="http://schemas.openxmlformats.org/officeDocument/2006/relationships/font" Target="fonts/4507e0e4-c82b-4d89-935b-cab985bfa066.fntdata" /><ns0:Relationship Id="rIdFont17" Type="http://schemas.openxmlformats.org/officeDocument/2006/relationships/font" Target="fonts/9d092cd7-2f1c-400d-a2c2-a0760f77015a.fntdata" /><ns0:Relationship Id="rIdFont18" Type="http://schemas.openxmlformats.org/officeDocument/2006/relationships/font" Target="fonts/8eec7073-9516-48c8-9040-1947cf41ce4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181725"/>
            <a:ext cx="111252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381000"/>
            <a:ext cx="2466975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4069853"/>
            <a:ext cx="2681287" cy="1241821"/>
          </a:xfrm>
          <a:prstGeom prst="roundRect">
            <a:avLst>
              <a:gd name="adj" fmla="val 92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48037" y="4069853"/>
            <a:ext cx="2681287" cy="1241821"/>
          </a:xfrm>
          <a:prstGeom prst="roundRect">
            <a:avLst>
              <a:gd name="adj" fmla="val 92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62675" y="4069853"/>
            <a:ext cx="2681287" cy="1241821"/>
          </a:xfrm>
          <a:prstGeom prst="roundRect">
            <a:avLst>
              <a:gd name="adj" fmla="val 92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77312" y="4069853"/>
            <a:ext cx="2681287" cy="1241821"/>
          </a:xfrm>
          <a:prstGeom prst="roundRect">
            <a:avLst>
              <a:gd name="adj" fmla="val 92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6181725"/>
            <a:ext cx="111252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39400" y="390525"/>
            <a:ext cx="1219200" cy="219075"/>
          </a:xfrm>
          <a:prstGeom prst="roundRect">
            <a:avLst>
              <a:gd name="adj" fmla="val 26086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77816" y="1965424"/>
            <a:ext cx="2343150" cy="276225"/>
          </a:xfrm>
          <a:prstGeom prst="roundRect">
            <a:avLst>
              <a:gd name="adj" fmla="val 20689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400" y="5302150"/>
            <a:ext cx="2681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3400" y="4069853"/>
            <a:ext cx="2681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3400" y="4069853"/>
            <a:ext cx="38100" cy="12418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5162" y="4069853"/>
            <a:ext cx="9525" cy="12418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8037" y="5302150"/>
            <a:ext cx="2681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8037" y="4069853"/>
            <a:ext cx="2681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8037" y="4069853"/>
            <a:ext cx="38100" cy="124182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19800" y="4069853"/>
            <a:ext cx="9525" cy="12418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2675" y="5302150"/>
            <a:ext cx="2681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2675" y="4069853"/>
            <a:ext cx="2681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2675" y="4069853"/>
            <a:ext cx="38100" cy="1241821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34437" y="4069853"/>
            <a:ext cx="9525" cy="12418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77312" y="5302150"/>
            <a:ext cx="2681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7312" y="4069853"/>
            <a:ext cx="2681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7312" y="4069853"/>
            <a:ext cx="38100" cy="124182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649075" y="4069853"/>
            <a:ext cx="9525" cy="12418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7" y="4231778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525" y="4231778"/>
            <a:ext cx="123825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737" y="4231778"/>
            <a:ext cx="95250" cy="1238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2375" y="4231778"/>
            <a:ext cx="95250" cy="1238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33400" y="2327374"/>
            <a:ext cx="11658600" cy="2723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b="1" sz="1650" i="0" u="none">
                <a:solidFill>
                  <a:srgbClr val="334155"/>
                </a:solidFill>
                <a:latin typeface="Plus Jakarta Sans"/>
              </a:rPr>
              <a:t>Autonomous Atmospheric Telemetry, Silicon Failsafes &amp; Distributed Environmental Intelligence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2694979"/>
            <a:ext cx="10763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A production-grade environmental intelligence system combining low-noise ESP32 sensor acquisition, autonomous local hardware sirens, high-throughput asynchronous cloud ingestion, and Groq LLM real-time health advisories.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0" y="6324600"/>
            <a:ext cx="2667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Fira Code"/>
              </a:rPr>
              <a:t>Open-Source Atmospheric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28625"/>
            <a:ext cx="2667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Fira Code"/>
              </a:rPr>
              <a:t>ACADEMIC CAPSTONE PROJECT •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1450" y="428625"/>
            <a:ext cx="3167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Fira Code"/>
              </a:rPr>
              <a:t>DEPT OF COMPUTER SCIENCE &amp; ENGINEERING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4650" y="428625"/>
            <a:ext cx="11239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334155"/>
                </a:solidFill>
                <a:latin typeface="Plus Jakarta Sans"/>
              </a:rPr>
              <a:t>TEAM HACKSMITHS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1565374"/>
            <a:ext cx="5239522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Space Grotesk"/>
              </a:rPr>
              <a:t>Project </a:t>
            </a:r>
            <a:r>
              <a:rPr b="1" sz="5400" i="0" u="none">
                <a:solidFill>
                  <a:srgbClr val="0284C7"/>
                </a:solidFill>
                <a:latin typeface="Space Grotesk"/>
              </a:rPr>
              <a:t>AERA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066" y="2003524"/>
            <a:ext cx="22479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Fira Code"/>
              </a:rPr>
              <a:t>ATMOSPHERIC TELEMETRY MATRIX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412753"/>
            <a:ext cx="3006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ESP32 Edge Node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631828"/>
            <a:ext cx="238601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ADC1 sampling, 1000 µF anti-brownout buffer, and independent 12.0 PPM buzzer safety failsafe.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57587" y="4412753"/>
            <a:ext cx="3006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FastAPI &amp; Asyncpg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57587" y="4631828"/>
            <a:ext cx="238601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Sub-millisecond ingestion, Neon Serverless PostgreSQL persistence, and Redis telemetry cache.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2225" y="4412753"/>
            <a:ext cx="3006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Indian CPCB NAQI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2225" y="4631828"/>
            <a:ext cx="238601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Instantaneous piecewise mathematical sub-index calculation with calibrated MQ-9 baseline drift.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6862" y="4412753"/>
            <a:ext cx="30051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React &amp; React Native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6862" y="4631828"/>
            <a:ext cx="2386012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Real-time WebSocket telemetry, Groq LPU health chat, and mobile ambient-to-hardware switching.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400" y="6329362"/>
            <a:ext cx="31789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Sensors:</a:t>
            </a:r>
            <a:r>
              <a:rPr b="0" sz="900" i="0" u="none">
                <a:solidFill>
                  <a:srgbClr val="475569"/>
                </a:solidFill>
                <a:latin typeface="Plus Jakarta Sans"/>
              </a:rPr>
              <a:t> MQ-9 (CO/Gas) + DHT22 (Temp/Hum)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67075" y="6329362"/>
            <a:ext cx="25598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Ingest:</a:t>
            </a:r>
            <a:r>
              <a:rPr b="0" sz="900" i="0" u="none">
                <a:solidFill>
                  <a:srgbClr val="475569"/>
                </a:solidFill>
                <a:latin typeface="Plus Jakarta Sans"/>
              </a:rPr>
              <a:t> HTTPS / TLS 1.3 (5000ms loop)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05450" y="6329362"/>
            <a:ext cx="2881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Intelligence:</a:t>
            </a:r>
            <a:r>
              <a:rPr b="0" sz="900" i="0" u="none">
                <a:solidFill>
                  <a:srgbClr val="475569"/>
                </a:solidFill>
                <a:latin typeface="Plus Jakarta Sans"/>
              </a:rPr>
              <a:t> Groq LPU (Llama 3 Guardrails)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4231778"/>
            <a:ext cx="12573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284C7"/>
                </a:solidFill>
                <a:latin typeface="Fira Code"/>
              </a:rPr>
              <a:t>01 / SILICON 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57587" y="4231778"/>
            <a:ext cx="12573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59669"/>
                </a:solidFill>
                <a:latin typeface="Fira Code"/>
              </a:rPr>
              <a:t>02 / CLOUD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2225" y="4231778"/>
            <a:ext cx="120015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7C3AED"/>
                </a:solidFill>
                <a:latin typeface="Fira Code"/>
              </a:rPr>
              <a:t>03 / COMPUTATION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6862" y="4231778"/>
            <a:ext cx="142875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D97706"/>
                </a:solidFill>
                <a:latin typeface="Fira Code"/>
              </a:rPr>
              <a:t>04 / CLIENT SURFACES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5300" y="6067425"/>
            <a:ext cx="11201400" cy="466725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300" y="1873597"/>
            <a:ext cx="3644949" cy="3403996"/>
          </a:xfrm>
          <a:prstGeom prst="roundRect">
            <a:avLst>
              <a:gd name="adj" fmla="val 3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73599" y="1873597"/>
            <a:ext cx="3644949" cy="3403996"/>
          </a:xfrm>
          <a:prstGeom prst="roundRect">
            <a:avLst>
              <a:gd name="adj" fmla="val 3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1873597"/>
            <a:ext cx="3644949" cy="3403996"/>
          </a:xfrm>
          <a:prstGeom prst="roundRect">
            <a:avLst>
              <a:gd name="adj" fmla="val 3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37202" y="740866"/>
            <a:ext cx="1515665" cy="342900"/>
          </a:xfrm>
          <a:prstGeom prst="roundRect">
            <a:avLst>
              <a:gd name="adj" fmla="val 16666"/>
            </a:avLst>
          </a:prstGeom>
          <a:solidFill>
            <a:srgbClr val="FEE2E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29068" y="740866"/>
            <a:ext cx="1767631" cy="342900"/>
          </a:xfrm>
          <a:prstGeom prst="roundRect">
            <a:avLst>
              <a:gd name="adj" fmla="val 1666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300" y="5268069"/>
            <a:ext cx="3644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5300" y="1873597"/>
            <a:ext cx="3644949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5300" y="1873597"/>
            <a:ext cx="9525" cy="34039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0724" y="1873597"/>
            <a:ext cx="9525" cy="34039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5325" y="467751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3599" y="5268069"/>
            <a:ext cx="3644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3599" y="1873597"/>
            <a:ext cx="3644949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3599" y="1873597"/>
            <a:ext cx="9525" cy="34039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024" y="1873597"/>
            <a:ext cx="9525" cy="34039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73624" y="467751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1899" y="5268069"/>
            <a:ext cx="36449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1899" y="1873597"/>
            <a:ext cx="3644949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1899" y="1873597"/>
            <a:ext cx="9525" cy="34039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687323" y="1873597"/>
            <a:ext cx="9525" cy="34039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51924" y="467751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5325" y="6191250"/>
            <a:ext cx="952500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5325" y="2083147"/>
            <a:ext cx="1123950" cy="180975"/>
          </a:xfrm>
          <a:prstGeom prst="roundRect">
            <a:avLst>
              <a:gd name="adj" fmla="val 2105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5325" y="321066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5325" y="368691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5325" y="416316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73624" y="2083147"/>
            <a:ext cx="838200" cy="180975"/>
          </a:xfrm>
          <a:prstGeom prst="roundRect">
            <a:avLst>
              <a:gd name="adj" fmla="val 2105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73624" y="321066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73624" y="368691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73624" y="416316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51924" y="2083147"/>
            <a:ext cx="895350" cy="180975"/>
          </a:xfrm>
          <a:prstGeom prst="roundRect">
            <a:avLst>
              <a:gd name="adj" fmla="val 21052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51924" y="321066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51924" y="368691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51924" y="4163169"/>
            <a:ext cx="3244899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977" y="859928"/>
            <a:ext cx="104775" cy="1047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843" y="859928"/>
            <a:ext cx="104775" cy="1047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299" y="2102197"/>
            <a:ext cx="16192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782294"/>
            <a:ext cx="104775" cy="1047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5649" y="2102197"/>
            <a:ext cx="14287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449" y="4782294"/>
            <a:ext cx="95250" cy="1047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3948" y="2102197"/>
            <a:ext cx="142875" cy="14287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96500" y="6229350"/>
            <a:ext cx="17502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Fira Code"/>
              </a:rPr>
              <a:t>5000ms TELEMETRY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300" y="323850"/>
            <a:ext cx="980237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Space Grotesk"/>
              </a:rPr>
              <a:t>THE INDOOR HAZARD PARADOX • CURRENT INDUSTRY DEFICIENCIES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5300" y="514350"/>
            <a:ext cx="8334010" cy="569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b="1" sz="1950" i="0" u="none">
                <a:solidFill>
                  <a:srgbClr val="0F172A"/>
                </a:solidFill>
                <a:latin typeface="Plus Jakarta Sans"/>
              </a:rPr>
              <a:t>Why Existing Atmospheric Monitors Fail in Real Residential Spaces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4377" y="778966"/>
            <a:ext cx="125849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991B1B"/>
                </a:solidFill>
                <a:latin typeface="Plus Jakarta Sans"/>
              </a:rPr>
              <a:t>Critical Life Safety Gap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6243" y="778966"/>
            <a:ext cx="1510456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92400E"/>
                </a:solidFill>
                <a:latin typeface="Plus Jakarta Sans"/>
              </a:rPr>
              <a:t>15-Minute Latency Problem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525" y="6229350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Fira Code"/>
              </a:rPr>
              <a:t>AERA MANDATE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62125" y="6224587"/>
            <a:ext cx="8882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34155"/>
                </a:solidFill>
                <a:latin typeface="Plus Jakarta Sans"/>
              </a:rPr>
              <a:t>Combine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autonomous silicon safety (12.0 PPM local hardware buzzer)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with a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sub-millisecond cloud intelligence pipeline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325" y="2340322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The Indoor Blind Spot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325" y="2597497"/>
            <a:ext cx="3340149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Municipal weather stations measure distant outdoor air, ignoring enclosed rooms where humans spend 90% of their daily lives.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150" y="4763244"/>
            <a:ext cx="3092499" cy="24765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91B1B"/>
                </a:solidFill>
                <a:latin typeface="Plus Jakarta Sans"/>
              </a:rPr>
              <a:t>Prolonged exposure &gt;9 PPM causes chronic fatigue, migraine, and hypoxia.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73624" y="2340322"/>
            <a:ext cx="425893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Telemetry &amp; Alert Lag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3624" y="2597497"/>
            <a:ext cx="3340149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Commercial air purifiers and IoT monitors batch metrics every 5–15 minutes, completely smoothing over acute toxic gas spikes.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7449" y="4763244"/>
            <a:ext cx="3092499" cy="24765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2400E"/>
                </a:solidFill>
                <a:latin typeface="Plus Jakarta Sans"/>
              </a:rPr>
              <a:t>Gas hazards demand a &lt;5 second local physical buzzer, independent of cloud state.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51924" y="2340322"/>
            <a:ext cx="3940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Raw Metrics vs. Guidance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51924" y="2597497"/>
            <a:ext cx="3340149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475569"/>
                </a:solidFill>
                <a:latin typeface="Plus Jakarta Sans"/>
              </a:rPr>
              <a:t>Dashboards show confusing numbers (PPM, µg/m³) without context, leaving users unsure when to ventilate, filter, or evacuate.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75749" y="4763244"/>
            <a:ext cx="3092499" cy="247650"/>
          </a:xfrm>
          <a:prstGeom prst="rect">
            <a:avLst/>
          </a:prstGeom>
          <a:noFill/>
        </p:spPr>
        <p:txBody>
          <a:bodyPr wrap="square" lIns="3810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40AF"/>
                </a:solidFill>
                <a:latin typeface="Plus Jakarta Sans"/>
              </a:rPr>
              <a:t>Requires instant CPCB NAQI math paired with real-time AI precautionary heuristics.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1525" y="2111722"/>
            <a:ext cx="1066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991B1B"/>
                </a:solidFill>
                <a:latin typeface="Fira Code"/>
              </a:rPr>
              <a:t>01 • ACCUMULATION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575" y="3267819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F4444"/>
                </a:solidFill>
                <a:latin typeface="Plus Jakarta Sans"/>
              </a:rPr>
              <a:t>• 5x–10x Higher Toxicity: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Enclosed bedrooms trap deadly CO &amp; VOCs.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575" y="3744069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F4444"/>
                </a:solidFill>
                <a:latin typeface="Plus Jakarta Sans"/>
              </a:rPr>
              <a:t>• Odorless &amp; Invisible: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Malfunctioning stoves and heaters leak undetected.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575" y="4220319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EF4444"/>
                </a:solidFill>
                <a:latin typeface="Plus Jakarta Sans"/>
              </a:rPr>
              <a:t>• Zero Sensor Density: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High-rise urban apartments lack local probes.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9824" y="2111722"/>
            <a:ext cx="7810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92400E"/>
                </a:solidFill>
                <a:latin typeface="Fira Code"/>
              </a:rPr>
              <a:t>02 • LATENCY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68874" y="3267819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Plus Jakarta Sans"/>
              </a:rPr>
              <a:t>• Cloud Dependency: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When home Wi-Fi drops, smart alarms fail to buzz.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68874" y="3744069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Plus Jakarta Sans"/>
              </a:rPr>
              <a:t>• Time-Averaging Flaw: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15-min rolling averages mask lethal gas surges.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68874" y="4220319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Plus Jakarta Sans"/>
              </a:rPr>
              <a:t>• No Silicon Overrides: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Firmware relies on remote servers for alarm alerts.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8124" y="2111722"/>
            <a:ext cx="8382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1E40AF"/>
                </a:solidFill>
                <a:latin typeface="Fira Code"/>
              </a:rPr>
              <a:t>03 • INACTION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47174" y="3267819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• Numbers Without Meaning: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Residents don't know if 10 PPM is safe or fatal.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47174" y="3744069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• Zero Health Directives: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No recommendations on opening windows or filters.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47174" y="4220319"/>
            <a:ext cx="31496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• Proprietary Silos: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Vendor apps lock telemetry and block open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C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6250" y="6086475"/>
            <a:ext cx="11239500" cy="466725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6250" y="2425898"/>
            <a:ext cx="2724150" cy="2299394"/>
          </a:xfrm>
          <a:prstGeom prst="roundRect">
            <a:avLst>
              <a:gd name="adj" fmla="val 49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14700" y="2425898"/>
            <a:ext cx="2724150" cy="2299394"/>
          </a:xfrm>
          <a:prstGeom prst="roundRect">
            <a:avLst>
              <a:gd name="adj" fmla="val 49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3150" y="2425898"/>
            <a:ext cx="2724150" cy="2299394"/>
          </a:xfrm>
          <a:prstGeom prst="roundRect">
            <a:avLst>
              <a:gd name="adj" fmla="val 49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91600" y="2425898"/>
            <a:ext cx="2724150" cy="2299394"/>
          </a:xfrm>
          <a:prstGeom prst="roundRect">
            <a:avLst>
              <a:gd name="adj" fmla="val 49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81652" y="721816"/>
            <a:ext cx="1740991" cy="34290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79793" y="721816"/>
            <a:ext cx="1935956" cy="342900"/>
          </a:xfrm>
          <a:prstGeom prst="roundRect">
            <a:avLst>
              <a:gd name="adj" fmla="val 16666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" y="4715767"/>
            <a:ext cx="2724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250" y="2425898"/>
            <a:ext cx="27241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" y="2425898"/>
            <a:ext cx="9525" cy="22993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2425898"/>
            <a:ext cx="9525" cy="22993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125" y="4353817"/>
            <a:ext cx="2438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4700" y="4715767"/>
            <a:ext cx="2724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4700" y="2425898"/>
            <a:ext cx="27241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4700" y="2425898"/>
            <a:ext cx="9525" cy="22993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9325" y="2425898"/>
            <a:ext cx="9525" cy="22993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7575" y="4353817"/>
            <a:ext cx="2438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150" y="4715767"/>
            <a:ext cx="2724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150" y="2425898"/>
            <a:ext cx="272415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150" y="2425898"/>
            <a:ext cx="9525" cy="22993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7775" y="2425898"/>
            <a:ext cx="9525" cy="22993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6025" y="4353817"/>
            <a:ext cx="2438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1600" y="4715767"/>
            <a:ext cx="2724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91600" y="2425898"/>
            <a:ext cx="27241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91600" y="2425898"/>
            <a:ext cx="9525" cy="22993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706225" y="2425898"/>
            <a:ext cx="9525" cy="229939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34475" y="4353817"/>
            <a:ext cx="2438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6275" y="6210300"/>
            <a:ext cx="885825" cy="219075"/>
          </a:xfrm>
          <a:prstGeom prst="roundRect">
            <a:avLst>
              <a:gd name="adj" fmla="val 17391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9125" y="3469778"/>
            <a:ext cx="2438400" cy="647848"/>
          </a:xfrm>
          <a:prstGeom prst="roundRect">
            <a:avLst>
              <a:gd name="adj" fmla="val 88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57575" y="3629769"/>
            <a:ext cx="2438400" cy="647848"/>
          </a:xfrm>
          <a:prstGeom prst="roundRect">
            <a:avLst>
              <a:gd name="adj" fmla="val 88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96025" y="3469778"/>
            <a:ext cx="2438400" cy="647848"/>
          </a:xfrm>
          <a:prstGeom prst="roundRect">
            <a:avLst>
              <a:gd name="adj" fmla="val 88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34475" y="3469778"/>
            <a:ext cx="2438400" cy="647848"/>
          </a:xfrm>
          <a:prstGeom prst="roundRect">
            <a:avLst>
              <a:gd name="adj" fmla="val 88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9125" y="2616398"/>
            <a:ext cx="1143000" cy="161925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7575" y="2616398"/>
            <a:ext cx="108585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96025" y="2616398"/>
            <a:ext cx="971550" cy="161925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34475" y="2616398"/>
            <a:ext cx="1085850" cy="161925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427" y="840878"/>
            <a:ext cx="104775" cy="1047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568" y="840878"/>
            <a:ext cx="95250" cy="1047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700" y="2635448"/>
            <a:ext cx="123825" cy="1238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150" y="2635448"/>
            <a:ext cx="123825" cy="1238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2025" y="2635448"/>
            <a:ext cx="152400" cy="1238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0" y="2635448"/>
            <a:ext cx="142875" cy="12382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582275" y="6248400"/>
            <a:ext cx="12192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59669"/>
                </a:solidFill>
                <a:latin typeface="Fira Code"/>
              </a:rPr>
              <a:t>LATENCY &lt; 50MS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250" y="304800"/>
            <a:ext cx="938175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Space Grotesk"/>
              </a:rPr>
              <a:t>CORE ARCHITECTURAL MOTO • FULL SYSTEM TOPOLOGY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250" y="495300"/>
            <a:ext cx="7980684" cy="569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b="1" sz="1950" i="0" u="none">
                <a:solidFill>
                  <a:srgbClr val="0F172A"/>
                </a:solidFill>
                <a:latin typeface="Plus Jakarta Sans"/>
              </a:rPr>
              <a:t>End-to-End Pipeline: From Physical Atmosphere to Silicon &amp;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38827" y="759916"/>
            <a:ext cx="1483816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Dual Gateway Architecture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27443" y="759916"/>
            <a:ext cx="1688306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075985"/>
                </a:solidFill>
                <a:latin typeface="Plus Jakarta Sans"/>
              </a:rPr>
              <a:t>Sub-Millisecond Reactive 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125" y="4430017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Output: Raw Voltage &amp; Single-Wire Stream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57575" y="4430017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Transport: HTTPS / TLS 1.3 JSON Ingest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6025" y="4430017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Outbound: WebSocket &amp; Titan SMTP Alerts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4475" y="4430017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Delivery: Sub-second browser push &amp; app alerts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2475" y="6248400"/>
            <a:ext cx="828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Fira Code"/>
              </a:rPr>
              <a:t>SYSTEM MOTO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76400" y="6243637"/>
            <a:ext cx="10515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Continuous Ingest, Autonomous Edge Defense, Actionable Precaution.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No missed toxic spikes, no reliance on cloud uptime for physical life safety.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9125" y="2835473"/>
            <a:ext cx="3200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Physical Transduction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125" y="3073598"/>
            <a:ext cx="253365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Analog and digital sampling of room micro-climate via calibrated sensor elements.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7575" y="2835473"/>
            <a:ext cx="3200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ESP32 Firmware Node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57575" y="3073598"/>
            <a:ext cx="2533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Hardware state machine running on FreeRTOS with built-in emergency safety triggers.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6025" y="2835473"/>
            <a:ext cx="3200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FastAPI &amp; Neon Engine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6025" y="3073598"/>
            <a:ext cx="253365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High-throughput ASGI server computing CPCB India NAQI and archiving telemetry.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475" y="2835473"/>
            <a:ext cx="30575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Observability &amp; 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4475" y="3073598"/>
            <a:ext cx="253365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Cross-platform applications providing live charts and Groq LPU health guidance.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275" y="2635448"/>
            <a:ext cx="1123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284C7"/>
                </a:solidFill>
                <a:latin typeface="Fira Code"/>
              </a:rPr>
              <a:t>STAGE 1 • SAMPLING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3900" y="355550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0284C7"/>
                </a:solidFill>
                <a:latin typeface="Plus Jakarta Sans"/>
              </a:rPr>
              <a:t>• MQ-9: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CO &amp; Combustible Gas (PPM)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3900" y="371430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0284C7"/>
                </a:solidFill>
                <a:latin typeface="Plus Jakarta Sans"/>
              </a:rPr>
              <a:t>• DHT22: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Temp (°C) &amp; Humidity (%)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900" y="387310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0284C7"/>
                </a:solidFill>
                <a:latin typeface="Plus Jakarta Sans"/>
              </a:rPr>
              <a:t>• Sampling: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16-sample ADC averaging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14725" y="2635448"/>
            <a:ext cx="1066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59669"/>
                </a:solidFill>
                <a:latin typeface="Fira Code"/>
              </a:rPr>
              <a:t>STAGE 2 • SILICON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62350" y="3715494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059669"/>
                </a:solidFill>
                <a:latin typeface="Plus Jakarta Sans"/>
              </a:rPr>
              <a:t>• Alarm: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Buzzer sounds at &gt;=12.0 PPM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62350" y="387429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059669"/>
                </a:solidFill>
                <a:latin typeface="Plus Jakarta Sans"/>
              </a:rPr>
              <a:t>• Power: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1000 µF anti-brownout cap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62350" y="403309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059669"/>
                </a:solidFill>
                <a:latin typeface="Plus Jakarta Sans"/>
              </a:rPr>
              <a:t>• NVS: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Captive SoftAP Wi-Fi provisioning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53175" y="2635448"/>
            <a:ext cx="9525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7C3AED"/>
                </a:solidFill>
                <a:latin typeface="Fira Code"/>
              </a:rPr>
              <a:t>STAGE 3 • CLOUD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355550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7C3AED"/>
                </a:solidFill>
                <a:latin typeface="Plus Jakarta Sans"/>
              </a:rPr>
              <a:t>• Math: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Real-time NAQI calculation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371430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7C3AED"/>
                </a:solidFill>
                <a:latin typeface="Plus Jakarta Sans"/>
              </a:rPr>
              <a:t>• Storage: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Neon Serverless PostgreSQL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387310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7C3AED"/>
                </a:solidFill>
                <a:latin typeface="Plus Jakarta Sans"/>
              </a:rPr>
              <a:t>• Cache: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Upstash Redis live heartbeat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91625" y="2635448"/>
            <a:ext cx="1066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Fira Code"/>
              </a:rPr>
              <a:t>STAGE 4 • CLIENTS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39250" y="355550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D97706"/>
                </a:solidFill>
                <a:latin typeface="Plus Jakarta Sans"/>
              </a:rPr>
              <a:t>• Web: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React 18, Vite, &amp; Recharts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9250" y="371430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D97706"/>
                </a:solidFill>
                <a:latin typeface="Plus Jakarta Sans"/>
              </a:rPr>
              <a:t>• Mobile: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React Native (iOS &amp; Android)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39250" y="3873103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1" sz="862" i="0" u="none">
                <a:solidFill>
                  <a:srgbClr val="D97706"/>
                </a:solidFill>
                <a:latin typeface="Plus Jakarta Sans"/>
              </a:rPr>
              <a:t>• AI Engine: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Groq LPU (Llama 3 inference)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219676"/>
            <a:ext cx="11277600" cy="352425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351954"/>
            <a:ext cx="5562600" cy="4276725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1351954"/>
            <a:ext cx="5562600" cy="4276725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91575" y="541883"/>
            <a:ext cx="1628775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77500" y="541883"/>
            <a:ext cx="1257300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7225" y="5152429"/>
            <a:ext cx="5162550" cy="295275"/>
          </a:xfrm>
          <a:prstGeom prst="roundRect">
            <a:avLst>
              <a:gd name="adj" fmla="val 19354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5619154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51954"/>
            <a:ext cx="5562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51954"/>
            <a:ext cx="9525" cy="4276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5275" y="1351954"/>
            <a:ext cx="9525" cy="4276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2225" y="5152429"/>
            <a:ext cx="5162550" cy="295275"/>
          </a:xfrm>
          <a:prstGeom prst="roundRect">
            <a:avLst>
              <a:gd name="adj" fmla="val 19354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2113954"/>
            <a:ext cx="5162550" cy="2152650"/>
          </a:xfrm>
          <a:prstGeom prst="roundRect">
            <a:avLst>
              <a:gd name="adj" fmla="val 3539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7225" y="1532929"/>
            <a:ext cx="1352550" cy="200025"/>
          </a:xfrm>
          <a:prstGeom prst="roundRect">
            <a:avLst>
              <a:gd name="adj" fmla="val 190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7225" y="2104429"/>
            <a:ext cx="5162550" cy="685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7225" y="2866429"/>
            <a:ext cx="5162550" cy="6858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7225" y="3628429"/>
            <a:ext cx="5162550" cy="676275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7225" y="4380904"/>
            <a:ext cx="5162550" cy="676275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72225" y="1561504"/>
            <a:ext cx="1285875" cy="200025"/>
          </a:xfrm>
          <a:prstGeom prst="roundRect">
            <a:avLst>
              <a:gd name="adj" fmla="val 19047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6050" y="2237779"/>
            <a:ext cx="49149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6050" y="2828329"/>
            <a:ext cx="4914900" cy="131445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0" y="2399704"/>
            <a:ext cx="1704975" cy="19050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350" y="599033"/>
            <a:ext cx="95250" cy="1047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275" y="599033"/>
            <a:ext cx="104775" cy="1047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75" y="1566267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257204"/>
            <a:ext cx="95250" cy="1047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1594842"/>
            <a:ext cx="104775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050" y="5257204"/>
            <a:ext cx="95250" cy="104775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505575" y="2837854"/>
          <a:ext cx="4895848" cy="1295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17451"/>
                <a:gridCol w="857696"/>
                <a:gridCol w="2520701"/>
              </a:tblGrid>
              <a:tr h="259080">
                <a:tc>
                  <a:txBody>
                    <a:bodyPr/>
                    <a:lstStyle/>
                    <a:p>
                      <a:pPr algn="l"/>
                      <a:r>
                        <a:rPr b="1" sz="7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PERIPHERAL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7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ESP32 PIN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7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BUS /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MQ-9 Gas Sensor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0284C7"/>
                          </a:solidFill>
                          <a:latin typeface="Fira Code"/>
                        </a:rPr>
                        <a:t>GPIO 34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62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ADC1_CH6 (Safe with Wi-Fi)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DHT22 Sensor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0284C7"/>
                          </a:solidFill>
                          <a:latin typeface="Fira Code"/>
                        </a:rPr>
                        <a:t>GPIO 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62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Single-Wire Digital Pullup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Active Buzzer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EF4444"/>
                          </a:solidFill>
                          <a:latin typeface="Fira Code"/>
                        </a:rPr>
                        <a:t>GPIO 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62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&gt;=12.0 PPM Alarm Siren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Status LED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62" i="0" u="none">
                          <a:solidFill>
                            <a:srgbClr val="0F172A"/>
                          </a:solidFill>
                          <a:latin typeface="Fira Code"/>
                        </a:rPr>
                        <a:t>GPIO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62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Heartbeat Pulse &amp; Network Sync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8175" y="6324451"/>
            <a:ext cx="92511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Fira Code"/>
              </a:rPr>
              <a:t>Wiring Integrity:</a:t>
            </a:r>
            <a:r>
              <a:rPr b="0" sz="825" i="0" u="none">
                <a:solidFill>
                  <a:srgbClr val="64748B"/>
                </a:solidFill>
                <a:latin typeface="Fira Code"/>
              </a:rPr>
              <a:t> Star-ground layout on power rails suppresses heater ground bounce and preserves ADC accuracy.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3550" y="6324451"/>
            <a:ext cx="275034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Fira Code"/>
              </a:rPr>
              <a:t>Zero External Transceivers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85750"/>
            <a:ext cx="8370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Space Grotesk"/>
              </a:rPr>
              <a:t>TECHNICAL APPROACH • CIRCUIT SCHEMATIC &amp; SOFTWARE MATRIX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6250"/>
            <a:ext cx="8788598" cy="2847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b="1" sz="1950" i="0" u="none">
                <a:solidFill>
                  <a:srgbClr val="0F172A"/>
                </a:solidFill>
                <a:latin typeface="Plus Jakarta Sans"/>
              </a:rPr>
              <a:t>Full-Stack Architecture &amp; Real-World Hardware Wiring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39225" y="579983"/>
            <a:ext cx="138112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0369A1"/>
                </a:solidFill>
                <a:latin typeface="Plus Jakarta Sans"/>
              </a:rPr>
              <a:t>1000 µF Low-ESR Buffer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34675" y="579983"/>
            <a:ext cx="100012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92400E"/>
                </a:solidFill>
                <a:latin typeface="Plus Jakarta Sans"/>
              </a:rPr>
              <a:t>ADC1 Safe Pinout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225" y="1809154"/>
            <a:ext cx="67758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Multi-Tier Production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5238154"/>
            <a:ext cx="6143625" cy="12382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40AF"/>
                </a:solidFill>
                <a:latin typeface="Plus Jakarta Sans"/>
              </a:rPr>
              <a:t>100% green pytest coverage utilizing in-memory SQLite for asynchronous verification.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2225" y="1837729"/>
            <a:ext cx="58197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Relatable Wiring &amp; GPIO Allocation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6050" y="5238154"/>
            <a:ext cx="5695950" cy="12382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ADC1 pinout prevents ESP32 Wi-Fi driver hardware locks that break ADC2 readings.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425" y="1561504"/>
            <a:ext cx="12954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Fira Code"/>
              </a:rPr>
              <a:t>SOFTWARE ECOSYSTEM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525" y="2180629"/>
            <a:ext cx="5029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284C7"/>
                </a:solidFill>
                <a:latin typeface="Plus Jakarta Sans"/>
              </a:rPr>
              <a:t>EMBEDDED FIRMWARE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525" y="2942629"/>
            <a:ext cx="5029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BACKEND &amp; 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525" y="3704629"/>
            <a:ext cx="50292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8B5CF6"/>
                </a:solidFill>
                <a:latin typeface="Plus Jakarta Sans"/>
              </a:rPr>
              <a:t>INTELLIGENCE &amp; ALERTING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1525" y="4457104"/>
            <a:ext cx="50292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USER SURFACES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8425" y="1590079"/>
            <a:ext cx="1228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Fira Code"/>
              </a:rPr>
              <a:t>HARDWARE TOPOLOGY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050" y="2409229"/>
            <a:ext cx="50101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C++ &amp; FreeRTOS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on ESP32 Arduino Core • 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WiFiClientSecure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(TLS 1.3) • Flash NVS Preferences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050" y="3171229"/>
            <a:ext cx="50101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FastAPI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(Python 3.12 ASGI) • </a:t>
            </a:r>
            <a:r>
              <a:rPr b="1" sz="900" i="0" u="none">
                <a:solidFill>
                  <a:srgbClr val="334155"/>
                </a:solidFill>
                <a:latin typeface="Plus Jakarta Sans"/>
              </a:rPr>
              <a:t>SQLAlchemy 2.0 Async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b="1" sz="900" i="0" u="none">
                <a:solidFill>
                  <a:srgbClr val="334155"/>
                </a:solidFill>
                <a:latin typeface="Plus Jakarta Sans"/>
              </a:rPr>
              <a:t>Neon Serverless PostgreSQL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via 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asyncpg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b="1" sz="900" i="0" u="none">
                <a:solidFill>
                  <a:srgbClr val="334155"/>
                </a:solidFill>
                <a:latin typeface="Plus Jakarta Sans"/>
              </a:rPr>
              <a:t>Redis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050" y="3933229"/>
            <a:ext cx="50101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Groq LPU Engine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(Llama 3 heuristics with non-clinical guardrails) • Non-blocking </a:t>
            </a:r>
            <a:r>
              <a:rPr b="1" sz="900" i="0" u="none">
                <a:solidFill>
                  <a:srgbClr val="334155"/>
                </a:solidFill>
                <a:latin typeface="Plus Jakarta Sans"/>
              </a:rPr>
              <a:t>Titan SMTP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worker over SSL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050" y="4685704"/>
            <a:ext cx="50101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34155"/>
                </a:solidFill>
                <a:latin typeface="Plus Jakarta Sans"/>
              </a:rPr>
              <a:t>React 18 &amp; Vite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web console • </a:t>
            </a:r>
            <a:r>
              <a:rPr b="1" sz="900" i="0" u="none">
                <a:solidFill>
                  <a:srgbClr val="334155"/>
                </a:solidFill>
                <a:latin typeface="Plus Jakarta Sans"/>
              </a:rPr>
              <a:t>React Native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cross-platform app (iOS &amp; Android) • Live WebSocket listeners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0825" y="2323504"/>
            <a:ext cx="21621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EF4444"/>
                </a:solidFill>
                <a:latin typeface="Plus Jakarta Sans"/>
              </a:rPr>
              <a:t>POWER BUFFER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6450" y="2437804"/>
            <a:ext cx="160972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750" i="0" u="none">
                <a:solidFill>
                  <a:srgbClr val="991B1B"/>
                </a:solidFill>
                <a:latin typeface="Plus Jakarta Sans"/>
              </a:rPr>
              <a:t>Blocks 500mA Wi-Fi Brownouts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0825" y="2523529"/>
            <a:ext cx="25836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1000 µF Electrolytic + 100 nF Ceramic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6250" y="6153150"/>
            <a:ext cx="112395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6250" y="1722685"/>
            <a:ext cx="5562600" cy="1702891"/>
          </a:xfrm>
          <a:prstGeom prst="roundRect">
            <a:avLst>
              <a:gd name="adj" fmla="val 67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53150" y="1722685"/>
            <a:ext cx="5562600" cy="1702891"/>
          </a:xfrm>
          <a:prstGeom prst="roundRect">
            <a:avLst>
              <a:gd name="adj" fmla="val 67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6250" y="3539876"/>
            <a:ext cx="5562600" cy="1670595"/>
          </a:xfrm>
          <a:prstGeom prst="roundRect">
            <a:avLst>
              <a:gd name="adj" fmla="val 68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3150" y="3539876"/>
            <a:ext cx="5562600" cy="1670595"/>
          </a:xfrm>
          <a:prstGeom prst="roundRect">
            <a:avLst>
              <a:gd name="adj" fmla="val 68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63150" y="6257925"/>
            <a:ext cx="1571625" cy="190500"/>
          </a:xfrm>
          <a:prstGeom prst="roundRect">
            <a:avLst>
              <a:gd name="adj" fmla="val 3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82075" y="560933"/>
            <a:ext cx="1343025" cy="219075"/>
          </a:xfrm>
          <a:prstGeom prst="roundRect">
            <a:avLst>
              <a:gd name="adj" fmla="val 26086"/>
            </a:avLst>
          </a:prstGeom>
          <a:solidFill>
            <a:srgbClr val="DCFCE7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82250" y="560933"/>
            <a:ext cx="1333500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" y="3416051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250" y="1722685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6250" y="1722685"/>
            <a:ext cx="38100" cy="170289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29325" y="1722685"/>
            <a:ext cx="9525" cy="17028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3150" y="3416051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150" y="1722685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150" y="1722685"/>
            <a:ext cx="38100" cy="1702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6225" y="1722685"/>
            <a:ext cx="9525" cy="17028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250" y="5200947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6250" y="3539876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6250" y="3539876"/>
            <a:ext cx="38100" cy="167059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29325" y="3539876"/>
            <a:ext cx="9525" cy="167059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150" y="5200947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150" y="3539876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150" y="3539876"/>
            <a:ext cx="38100" cy="167059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706225" y="3539876"/>
            <a:ext cx="9525" cy="167059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1884610"/>
            <a:ext cx="628650" cy="161925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2700" y="1884610"/>
            <a:ext cx="62865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3701801"/>
            <a:ext cx="628650" cy="161925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62700" y="3701801"/>
            <a:ext cx="628650" cy="161925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850" y="618083"/>
            <a:ext cx="114300" cy="1047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025" y="618083"/>
            <a:ext cx="133350" cy="1047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475" y="1889373"/>
            <a:ext cx="1524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2375" y="1889373"/>
            <a:ext cx="1524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525" y="3706564"/>
            <a:ext cx="13335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2375" y="3706564"/>
            <a:ext cx="152400" cy="152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7225" y="6281737"/>
            <a:ext cx="991790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Fira Code"/>
              </a:rPr>
              <a:t>Field Readiness:</a:t>
            </a:r>
            <a:r>
              <a:rPr b="0" sz="825" i="0" u="none">
                <a:solidFill>
                  <a:srgbClr val="334155"/>
                </a:solidFill>
                <a:latin typeface="Fira Code"/>
              </a:rPr>
              <a:t> Fully passes asynchronous load tests, captive portal network cycling, and continuous telemetry ingest.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296025"/>
            <a:ext cx="1476375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750" i="0" u="none">
                <a:solidFill>
                  <a:srgbClr val="166534"/>
                </a:solidFill>
                <a:latin typeface="Plus Jakarta Sans"/>
              </a:rPr>
              <a:t>100% PRODUCTION VERIFIED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250" y="304800"/>
            <a:ext cx="9048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Space Grotesk"/>
              </a:rPr>
              <a:t>SYSTEM EVALUATION • PRODUCTION VIABILITY &amp; 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250" y="495300"/>
            <a:ext cx="9501187" cy="2847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b="1" sz="1950" i="0" u="none">
                <a:solidFill>
                  <a:srgbClr val="0F172A"/>
                </a:solidFill>
                <a:latin typeface="Plus Jakarta Sans"/>
              </a:rPr>
              <a:t>Engineering Feasibility, Resilience &amp; Deployment Readiness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8775" y="599033"/>
            <a:ext cx="107632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Self-Healing Logic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8000" y="599033"/>
            <a:ext cx="10477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0369A1"/>
                </a:solidFill>
                <a:latin typeface="Plus Jakarta Sans"/>
              </a:rPr>
              <a:t>Zero-Collision IDs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103685"/>
            <a:ext cx="678834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Edge Autonomy &amp; Offline Failsafes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341810"/>
            <a:ext cx="5267325" cy="3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Operates as a standalone life safety node without requiring continuous internet or cloud connection.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2700" y="2103685"/>
            <a:ext cx="58293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Architectural Modularity &amp; Zero-Touch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62700" y="2341810"/>
            <a:ext cx="5829300" cy="1656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Decoupled services allow independent scaling, rapid field maintenance, and easy provisioning.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3920876"/>
            <a:ext cx="678834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Power Profile &amp; Transient Stability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4159001"/>
            <a:ext cx="6465093" cy="1656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Tolerant to high peak current demands through localized electrolytic energy buffering.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2700" y="3920876"/>
            <a:ext cx="58293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Commercial Viability &amp; Scale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2700" y="4159001"/>
            <a:ext cx="5829300" cy="1656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Manufacturable using standardized commodity components easily adapted to a single PCB.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950" y="1903660"/>
            <a:ext cx="6096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284C7"/>
                </a:solidFill>
                <a:latin typeface="Fira Code"/>
              </a:rPr>
              <a:t>PILLAR 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749301"/>
            <a:ext cx="6465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Autonomous Interrupt: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Local 12.0 PPM buzzer fires even when router is completely offline.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930276"/>
            <a:ext cx="646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Hardware Identity: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MAC-derived Node ID (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AERA-XXXXXX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) prevents identity collision.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3120776"/>
            <a:ext cx="6465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Self-Healing Mesh: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10-second automatic reconnection loops restore links without reboots.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850" y="1903660"/>
            <a:ext cx="6096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59669"/>
                </a:solidFill>
                <a:latin typeface="Fira Code"/>
              </a:rPr>
              <a:t>PILLAR 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2700" y="2583656"/>
            <a:ext cx="58293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Captive DNS SoftAP: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Users configure Wi-Fi via browser portal without flashing code.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62700" y="2764631"/>
            <a:ext cx="58293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NVS Flash Memory: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Network credentials safely persist through brownouts and power cuts.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2700" y="2945606"/>
            <a:ext cx="58293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Dual Ingestion Gateways: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Dedicated hardware PSK port separated from client REST APIs.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2950" y="3720851"/>
            <a:ext cx="6096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7C3AED"/>
                </a:solidFill>
                <a:latin typeface="Fira Code"/>
              </a:rPr>
              <a:t>PILLAR 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4400847"/>
            <a:ext cx="6465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1000 µF Low-ESR Decoupling: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Absorbs sudden 500mA Wi-Fi radio transmission bursts.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581822"/>
            <a:ext cx="6465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Flexible Supply: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Runs on 4x NiCd rechargeable packs or standard 5V micro-USB wall chargers.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4762797"/>
            <a:ext cx="6465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Sensor Heating Resilience: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Steady thermal loop maintained for accurate MQ-9 baseline.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9850" y="3720851"/>
            <a:ext cx="6096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Fira Code"/>
              </a:rPr>
              <a:t>PILLAR 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2700" y="4400847"/>
            <a:ext cx="58293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Favorable Unit Economics: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BOM cost is a small fraction of ₹12,000 commercial monitors.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62700" y="4581822"/>
            <a:ext cx="52673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Cloud Scalability: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Asynchronous asyncpg pool handles thousands of concurrent device streams.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62700" y="4905672"/>
            <a:ext cx="58293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Standardized Calibration: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MQ-9 mathematical clean-air R0 calibration executed on boot.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6250" y="6200626"/>
            <a:ext cx="11239500" cy="352425"/>
          </a:xfrm>
          <a:prstGeom prst="roundRect">
            <a:avLst>
              <a:gd name="adj" fmla="val 324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6250" y="2408336"/>
            <a:ext cx="2724150" cy="244866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14700" y="2408336"/>
            <a:ext cx="2724150" cy="244866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53150" y="2408336"/>
            <a:ext cx="2724150" cy="244866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91600" y="2408336"/>
            <a:ext cx="2724150" cy="244866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92765" y="721816"/>
            <a:ext cx="1679376" cy="342900"/>
          </a:xfrm>
          <a:prstGeom prst="roundRect">
            <a:avLst>
              <a:gd name="adj" fmla="val 16666"/>
            </a:avLst>
          </a:prstGeom>
          <a:solidFill>
            <a:srgbClr val="FEE2E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29292" y="721816"/>
            <a:ext cx="1186457" cy="34290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50" y="4847480"/>
            <a:ext cx="2724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" y="2408336"/>
            <a:ext cx="272415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6250" y="2408336"/>
            <a:ext cx="9525" cy="24486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90875" y="2408336"/>
            <a:ext cx="9525" cy="24486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125" y="4485530"/>
            <a:ext cx="2438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4700" y="4847480"/>
            <a:ext cx="2724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4700" y="2408336"/>
            <a:ext cx="27241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4700" y="2408336"/>
            <a:ext cx="9525" cy="24486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29325" y="2408336"/>
            <a:ext cx="9525" cy="24486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7575" y="4485530"/>
            <a:ext cx="2438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3150" y="4847480"/>
            <a:ext cx="2724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150" y="2408336"/>
            <a:ext cx="27241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150" y="2408336"/>
            <a:ext cx="9525" cy="24486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7775" y="2408336"/>
            <a:ext cx="9525" cy="24486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6025" y="4485530"/>
            <a:ext cx="2438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1600" y="4847480"/>
            <a:ext cx="27241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1600" y="2408336"/>
            <a:ext cx="272415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91600" y="2408336"/>
            <a:ext cx="9525" cy="24486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706225" y="2408336"/>
            <a:ext cx="9525" cy="2448669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34475" y="4485530"/>
            <a:ext cx="2438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9125" y="3602682"/>
            <a:ext cx="2438400" cy="806648"/>
          </a:xfrm>
          <a:prstGeom prst="roundRect">
            <a:avLst>
              <a:gd name="adj" fmla="val 7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57575" y="3602682"/>
            <a:ext cx="2438400" cy="806648"/>
          </a:xfrm>
          <a:prstGeom prst="roundRect">
            <a:avLst>
              <a:gd name="adj" fmla="val 7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96025" y="3602682"/>
            <a:ext cx="2438400" cy="647848"/>
          </a:xfrm>
          <a:prstGeom prst="roundRect">
            <a:avLst>
              <a:gd name="adj" fmla="val 88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34475" y="3602682"/>
            <a:ext cx="2438400" cy="806648"/>
          </a:xfrm>
          <a:prstGeom prst="roundRect">
            <a:avLst>
              <a:gd name="adj" fmla="val 7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9125" y="2598836"/>
            <a:ext cx="1028700" cy="161925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57575" y="2598836"/>
            <a:ext cx="742950" cy="161925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6025" y="2598836"/>
            <a:ext cx="74295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34475" y="2598836"/>
            <a:ext cx="800100" cy="161925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540" y="840878"/>
            <a:ext cx="104775" cy="1047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4067" y="840878"/>
            <a:ext cx="133350" cy="1047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125" y="2603599"/>
            <a:ext cx="152400" cy="152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2625" y="2603599"/>
            <a:ext cx="13335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925" y="2603599"/>
            <a:ext cx="190500" cy="152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57225" y="6305401"/>
            <a:ext cx="82510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Fira Code"/>
              </a:rPr>
              <a:t>Core Value Proposition:</a:t>
            </a:r>
            <a:r>
              <a:rPr b="0" sz="825" i="0" u="none">
                <a:solidFill>
                  <a:srgbClr val="334155"/>
                </a:solidFill>
                <a:latin typeface="Fira Code"/>
              </a:rPr>
              <a:t> Elevates consumer environmental monitors into life safety edge instruments.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1100" y="6305401"/>
            <a:ext cx="33909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Fira Code"/>
              </a:rPr>
              <a:t>Actionable Intelligence For Everyday Life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250" y="304800"/>
            <a:ext cx="1039564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Space Grotesk"/>
              </a:rPr>
              <a:t>REAL-WORLD VALUE • SOCIETAL &amp; CLINICAL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250" y="495300"/>
            <a:ext cx="8832353" cy="569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b="1" sz="1950" i="0" u="none">
                <a:solidFill>
                  <a:srgbClr val="0F172A"/>
                </a:solidFill>
                <a:latin typeface="Plus Jakarta Sans"/>
              </a:rPr>
              <a:t>Protecting Human Health, Democratizing Air Data &amp; Autonomous Safety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9940" y="759916"/>
            <a:ext cx="1422201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991B1B"/>
                </a:solidFill>
                <a:latin typeface="Plus Jakarta Sans"/>
              </a:rPr>
              <a:t>Clinical CO Hazard Window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15042" y="759916"/>
            <a:ext cx="900707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Smart City Scale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125" y="456173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991B1B"/>
                </a:solidFill>
                <a:latin typeface="Plus Jakarta Sans"/>
              </a:rPr>
              <a:t>WHO 8-Hour Benchmark: &lt;9.0 PPM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7575" y="456173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92400E"/>
                </a:solidFill>
                <a:latin typeface="Plus Jakarta Sans"/>
              </a:rPr>
              <a:t>Response Latency: &lt;5 Seconds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6025" y="456173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059669"/>
                </a:solidFill>
                <a:latin typeface="Plus Jakarta Sans"/>
              </a:rPr>
              <a:t>Coverage: Dense Room-Level Mesh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4475" y="4561730"/>
            <a:ext cx="2533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87" i="0" u="none">
                <a:solidFill>
                  <a:srgbClr val="7C3AED"/>
                </a:solidFill>
                <a:latin typeface="Plus Jakarta Sans"/>
              </a:rPr>
              <a:t>Engine: Groq LPU (Llama 3)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9125" y="2817911"/>
            <a:ext cx="3200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0F172A"/>
                </a:solidFill>
                <a:latin typeface="Plus Jakarta Sans"/>
              </a:rPr>
              <a:t>Sub-Acute CO Detection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125" y="3046511"/>
            <a:ext cx="2533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Catches silent combustion leaks in the 9.0–15.0 PPM range before carboxyhemoglobin causes tissue damage.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7575" y="2817911"/>
            <a:ext cx="3200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0F172A"/>
                </a:solidFill>
                <a:latin typeface="Plus Jakarta Sans"/>
              </a:rPr>
              <a:t>Autonomous Local Alarms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7575" y="3046511"/>
            <a:ext cx="2533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Immediate physical siren triggers at 12.0 PPM within 5 seconds, even during complete power or internet outages.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6025" y="2817911"/>
            <a:ext cx="3200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0F172A"/>
                </a:solidFill>
                <a:latin typeface="Plus Jakarta Sans"/>
              </a:rPr>
              <a:t>Hyperlocal Data Democracy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6025" y="3046511"/>
            <a:ext cx="2533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Complements sparse government weather towers with high-density, neighborhood-level indoor sensor meshes.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34475" y="2817911"/>
            <a:ext cx="30575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87" i="0" u="none">
                <a:solidFill>
                  <a:srgbClr val="0F172A"/>
                </a:solidFill>
                <a:latin typeface="Plus Jakarta Sans"/>
              </a:rPr>
              <a:t>Actionable Precaution 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34475" y="3046511"/>
            <a:ext cx="253365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75569"/>
                </a:solidFill>
                <a:latin typeface="Plus Jakarta Sans"/>
              </a:rPr>
              <a:t>Converts raw air quality data into practical lifestyle steps powered by Groq LPU inference.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275" y="2617886"/>
            <a:ext cx="10096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991B1B"/>
                </a:solidFill>
                <a:latin typeface="Fira Code"/>
              </a:rPr>
              <a:t>CLINICAL DEFENSE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3900" y="3688407"/>
            <a:ext cx="23241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Protects infants, elderly, &amp; asthma patients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3900" y="4006006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Detects unvented stoves &amp; water heaters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900" y="4164806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Prevents chronic morning migraines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14725" y="2617886"/>
            <a:ext cx="723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92400E"/>
                </a:solidFill>
                <a:latin typeface="Fira Code"/>
              </a:rPr>
              <a:t>EDGE SAFETY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62350" y="3688407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Zero reliance on server round-trips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62350" y="3847207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Immediate waking alert for occupants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62350" y="4006006"/>
            <a:ext cx="23241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Dual trigger: Hardware failsafe + cloud directive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3175" y="2617886"/>
            <a:ext cx="723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59669"/>
                </a:solidFill>
                <a:latin typeface="Fira Code"/>
              </a:rPr>
              <a:t>CIVIC SCALE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3688407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Identifies localized pollution corridors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3847207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Reveals apartment thermal inversions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4006006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Feeds municipal smart-city platforms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1625" y="2617886"/>
            <a:ext cx="7810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7C3AED"/>
                </a:solidFill>
                <a:latin typeface="Fira Code"/>
              </a:rPr>
              <a:t>INTELLIGENCE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39250" y="3688407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Contextual ventilation schedules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39250" y="3847207"/>
            <a:ext cx="2786062" cy="1587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Air purifier run-time optimization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39250" y="4006006"/>
            <a:ext cx="23241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Outdoor activity &amp; mask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6250" y="6086326"/>
            <a:ext cx="11239500" cy="466725"/>
          </a:xfrm>
          <a:prstGeom prst="roundRect">
            <a:avLst>
              <a:gd name="adj" fmla="val 24489"/>
            </a:avLst>
          </a:prstGeom>
          <a:solidFill>
            <a:srgbClr val="F8FE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6250" y="2299543"/>
            <a:ext cx="3657600" cy="2267247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67200" y="2299543"/>
            <a:ext cx="3657600" cy="2267247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8150" y="2299543"/>
            <a:ext cx="3657600" cy="2267247"/>
          </a:xfrm>
          <a:prstGeom prst="roundRect">
            <a:avLst>
              <a:gd name="adj" fmla="val 50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82025" y="560933"/>
            <a:ext cx="1495425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34600" y="560933"/>
            <a:ext cx="1581150" cy="219075"/>
          </a:xfrm>
          <a:prstGeom prst="roundRect">
            <a:avLst>
              <a:gd name="adj" fmla="val 2608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6250" y="4557266"/>
            <a:ext cx="365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6250" y="2299543"/>
            <a:ext cx="3657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6250" y="2299543"/>
            <a:ext cx="9525" cy="22672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24325" y="2299543"/>
            <a:ext cx="9525" cy="22672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7225" y="4176266"/>
            <a:ext cx="32956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7200" y="4557266"/>
            <a:ext cx="365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7200" y="2299543"/>
            <a:ext cx="36576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200" y="2299543"/>
            <a:ext cx="9525" cy="22672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15275" y="2299543"/>
            <a:ext cx="9525" cy="22672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8175" y="4176266"/>
            <a:ext cx="32956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4557266"/>
            <a:ext cx="365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8150" y="2299543"/>
            <a:ext cx="36576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150" y="2299543"/>
            <a:ext cx="9525" cy="22672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706225" y="2299543"/>
            <a:ext cx="9525" cy="226724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9125" y="4176266"/>
            <a:ext cx="32956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275" y="6210151"/>
            <a:ext cx="1152525" cy="219075"/>
          </a:xfrm>
          <a:prstGeom prst="roundRect">
            <a:avLst>
              <a:gd name="adj" fmla="val 1739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7225" y="2509093"/>
            <a:ext cx="1314450" cy="161925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48175" y="2509093"/>
            <a:ext cx="914400" cy="161925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39125" y="2509093"/>
            <a:ext cx="1143000" cy="161925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700" y="6267301"/>
            <a:ext cx="133350" cy="1047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618083"/>
            <a:ext cx="133350" cy="1047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375" y="618083"/>
            <a:ext cx="95250" cy="1047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425" y="2513855"/>
            <a:ext cx="1714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425" y="2513855"/>
            <a:ext cx="1524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44275" y="2513855"/>
            <a:ext cx="1905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791700" y="6248251"/>
            <a:ext cx="2155031" cy="14287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59669"/>
                </a:solidFill>
                <a:latin typeface="Fira Code"/>
              </a:rPr>
              <a:t>Thank You • Q&amp;A Session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250" y="304800"/>
            <a:ext cx="8715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Space Grotesk"/>
              </a:rPr>
              <a:t>ACADEMIC RIGOR • STANDARDS &amp; RESEARCH CITATIONS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250" y="495300"/>
            <a:ext cx="9151143" cy="2847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b="1" sz="1950" i="0" u="none">
                <a:solidFill>
                  <a:srgbClr val="0F172A"/>
                </a:solidFill>
                <a:latin typeface="Plus Jakarta Sans"/>
              </a:rPr>
              <a:t>Regulatory Guidelines, Mathematical Models &amp; Literature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7775" y="599033"/>
            <a:ext cx="12096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0369A1"/>
                </a:solidFill>
                <a:latin typeface="Plus Jakarta Sans"/>
              </a:rPr>
              <a:t>CPCB NAQI Standard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2250" y="599033"/>
            <a:ext cx="13335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92400E"/>
                </a:solidFill>
                <a:latin typeface="Plus Jakarta Sans"/>
              </a:rPr>
              <a:t>Peer-Reviewed Models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225" y="4252466"/>
            <a:ext cx="3390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Reference: Central Pollution Control Board (Govt. of India)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8175" y="4252466"/>
            <a:ext cx="3390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Reference: Espressif &amp; Winsen Sensor Laboratories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9125" y="4252466"/>
            <a:ext cx="3390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"/>
              </a:rPr>
              <a:t>Reference: Open-Source Software Foundation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475" y="6248251"/>
            <a:ext cx="1095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Fira Code"/>
              </a:rPr>
              <a:t>PROJECT 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43100" y="6243488"/>
            <a:ext cx="8751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37" i="0" u="none">
                <a:solidFill>
                  <a:srgbClr val="334155"/>
                </a:solidFill>
                <a:latin typeface="Plus Jakarta Sans"/>
              </a:rPr>
              <a:t>Project AERA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 delivers a validated, complete, and reproducible paradigm for modern IoT atmospheric telemetry and life safety.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" y="2747218"/>
            <a:ext cx="432554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Indian CPCB NAQI &amp; WHO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8175" y="2747218"/>
            <a:ext cx="432554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Datasheets &amp; Sensor Physics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9125" y="2747218"/>
            <a:ext cx="3952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Open-Source Frameworks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4375" y="2528143"/>
            <a:ext cx="12954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284C7"/>
                </a:solidFill>
                <a:latin typeface="Fira Code"/>
              </a:rPr>
              <a:t>AIR QUALITY STANDARDS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225" y="3004393"/>
            <a:ext cx="33909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CPCB NAQI Protocol (India):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Technical Report on piecewise linear sub-index math for PM2.5, PM10, and CO.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225" y="3379142"/>
            <a:ext cx="33909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WHO 2021 Guidelines: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Global Air Quality benchmarks for indoor particulate matter and toxic gaseous contaminants.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7225" y="3753891"/>
            <a:ext cx="33909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US EPA 40 CFR Part 58: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Sensor calibration curves and ambient air monitoring equivalence standards.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05325" y="2528143"/>
            <a:ext cx="8953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59669"/>
                </a:solidFill>
                <a:latin typeface="Fira Code"/>
              </a:rPr>
              <a:t>SILICON &amp; MATH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48175" y="3004393"/>
            <a:ext cx="3390900" cy="32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Winsen MQ-9 Technical Manual: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Power-law sensitivity curve: 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PPM = 95.0 * (Rs/R0)^(-1.45)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8175" y="3388667"/>
            <a:ext cx="33909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Espressif Systems: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ESP32 Technical Reference Manual (ADC1 vs ADC2 Wi-Fi hardware channel isolation).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48175" y="3763416"/>
            <a:ext cx="33909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Aosong DHT22 Manual: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Single-wire digital capacitive humidity and NTC thermistor communication protocol.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96275" y="2528143"/>
            <a:ext cx="11239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7C3AED"/>
                </a:solidFill>
                <a:latin typeface="Fira Code"/>
              </a:rPr>
              <a:t>SOFTWARE ECOSYSTEM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39125" y="3004393"/>
            <a:ext cx="33909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FastAPI &amp; Starlette: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High-performance asynchronous ASGI architecture (Tiangolo et al.).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9125" y="3379142"/>
            <a:ext cx="33909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Asyncpg &amp; SQLAlchemy 2.0: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Native Python coroutine PostgreSQL connection multiplexing.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9125" y="3753891"/>
            <a:ext cx="3390900" cy="317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b="0" sz="862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862" i="0" u="none">
                <a:solidFill>
                  <a:srgbClr val="334155"/>
                </a:solidFill>
                <a:latin typeface="Plus Jakarta Sans"/>
              </a:rPr>
              <a:t>React 18 &amp; React Native:</a:t>
            </a:r>
            <a:r>
              <a:rPr b="0" sz="862" i="0" u="none">
                <a:solidFill>
                  <a:srgbClr val="334155"/>
                </a:solidFill>
                <a:latin typeface="Plus Jakarta Sans"/>
              </a:rPr>
              <a:t> Declarative, concurrent state architecture for real-time telemetry streams.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